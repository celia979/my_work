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066E64-98CF-0475-01F0-2AE2E5C87210}" v="32" dt="2025-12-03T08:28:40.171"/>
    <p1510:client id="{AB5262FF-5D01-1AA3-8943-466DEE3F742F}" v="5" dt="2025-12-03T08:30:55.650"/>
    <p1510:client id="{DBC325F8-5124-1D48-5CFE-053E4AD1FA05}" v="97" dt="2025-12-03T05:29:39.8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A7AA3C-F8E4-4D92-A1E6-37001998E6E8}" type="doc">
      <dgm:prSet loTypeId="urn:microsoft.com/office/officeart/2005/8/layout/hierarchy1" loCatId="hierarchy" qsTypeId="urn:microsoft.com/office/officeart/2005/8/quickstyle/simple5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924D1881-1813-41F6-A960-C01DDBB1826B}">
      <dgm:prSet/>
      <dgm:spPr/>
      <dgm:t>
        <a:bodyPr/>
        <a:lstStyle/>
        <a:p>
          <a:r>
            <a:rPr lang="en-US"/>
            <a:t>• Character progression with unlockable abilities</a:t>
          </a:r>
        </a:p>
      </dgm:t>
    </dgm:pt>
    <dgm:pt modelId="{66325FC9-7AF5-45B4-BEA8-7963C82AC3F7}" type="parTrans" cxnId="{4C628F3C-D889-4569-9BB7-5B4EA540F297}">
      <dgm:prSet/>
      <dgm:spPr/>
      <dgm:t>
        <a:bodyPr/>
        <a:lstStyle/>
        <a:p>
          <a:endParaRPr lang="en-US"/>
        </a:p>
      </dgm:t>
    </dgm:pt>
    <dgm:pt modelId="{A019D581-8ACA-4B49-9CFE-842DB1B75209}" type="sibTrans" cxnId="{4C628F3C-D889-4569-9BB7-5B4EA540F297}">
      <dgm:prSet/>
      <dgm:spPr/>
      <dgm:t>
        <a:bodyPr/>
        <a:lstStyle/>
        <a:p>
          <a:endParaRPr lang="en-US"/>
        </a:p>
      </dgm:t>
    </dgm:pt>
    <dgm:pt modelId="{C9385E62-0658-4C11-8E90-34FDB1BA133C}">
      <dgm:prSet/>
      <dgm:spPr/>
      <dgm:t>
        <a:bodyPr/>
        <a:lstStyle/>
        <a:p>
          <a:r>
            <a:rPr lang="en-US"/>
            <a:t>• Equipment upgrades and stat-based improvements</a:t>
          </a:r>
        </a:p>
      </dgm:t>
    </dgm:pt>
    <dgm:pt modelId="{803E750B-5113-4E1E-A078-52D136109FB6}" type="parTrans" cxnId="{A47FD108-9186-47EE-A5CC-A49D14B83722}">
      <dgm:prSet/>
      <dgm:spPr/>
      <dgm:t>
        <a:bodyPr/>
        <a:lstStyle/>
        <a:p>
          <a:endParaRPr lang="en-US"/>
        </a:p>
      </dgm:t>
    </dgm:pt>
    <dgm:pt modelId="{325B2C13-C4FD-47DE-A7A9-8F7A75B0D682}" type="sibTrans" cxnId="{A47FD108-9186-47EE-A5CC-A49D14B83722}">
      <dgm:prSet/>
      <dgm:spPr/>
      <dgm:t>
        <a:bodyPr/>
        <a:lstStyle/>
        <a:p>
          <a:endParaRPr lang="en-US"/>
        </a:p>
      </dgm:t>
    </dgm:pt>
    <dgm:pt modelId="{F6FA7CC7-9C75-4425-ACAF-42C33ED4EC9D}">
      <dgm:prSet/>
      <dgm:spPr/>
      <dgm:t>
        <a:bodyPr/>
        <a:lstStyle/>
        <a:p>
          <a:r>
            <a:rPr lang="en-US"/>
            <a:t>• Narrative choices influencing your journey</a:t>
          </a:r>
        </a:p>
      </dgm:t>
    </dgm:pt>
    <dgm:pt modelId="{17AB10AF-5C14-44DE-B465-68E8D53DCDA5}" type="parTrans" cxnId="{672F8257-6D76-436B-BB78-BCB4CEE9E88A}">
      <dgm:prSet/>
      <dgm:spPr/>
      <dgm:t>
        <a:bodyPr/>
        <a:lstStyle/>
        <a:p>
          <a:endParaRPr lang="en-US"/>
        </a:p>
      </dgm:t>
    </dgm:pt>
    <dgm:pt modelId="{AA9FA9BB-EBDE-412D-AAA9-A78B00323C7E}" type="sibTrans" cxnId="{672F8257-6D76-436B-BB78-BCB4CEE9E88A}">
      <dgm:prSet/>
      <dgm:spPr/>
      <dgm:t>
        <a:bodyPr/>
        <a:lstStyle/>
        <a:p>
          <a:endParaRPr lang="en-US"/>
        </a:p>
      </dgm:t>
    </dgm:pt>
    <dgm:pt modelId="{12C040AF-4A15-4E9E-9C65-B6D00300D41F}" type="pres">
      <dgm:prSet presAssocID="{81A7AA3C-F8E4-4D92-A1E6-37001998E6E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1ECBA1A-694F-4BEF-8A0D-2A7C77750271}" type="pres">
      <dgm:prSet presAssocID="{924D1881-1813-41F6-A960-C01DDBB1826B}" presName="hierRoot1" presStyleCnt="0"/>
      <dgm:spPr/>
    </dgm:pt>
    <dgm:pt modelId="{861E5C68-79DE-4CD4-BCEC-737D898161C1}" type="pres">
      <dgm:prSet presAssocID="{924D1881-1813-41F6-A960-C01DDBB1826B}" presName="composite" presStyleCnt="0"/>
      <dgm:spPr/>
    </dgm:pt>
    <dgm:pt modelId="{C6A3161A-736A-4B06-A802-FC1F2E6A0C66}" type="pres">
      <dgm:prSet presAssocID="{924D1881-1813-41F6-A960-C01DDBB1826B}" presName="background" presStyleLbl="node0" presStyleIdx="0" presStyleCnt="3"/>
      <dgm:spPr/>
    </dgm:pt>
    <dgm:pt modelId="{1C00F03E-9E97-4413-8E4B-993902A6D55B}" type="pres">
      <dgm:prSet presAssocID="{924D1881-1813-41F6-A960-C01DDBB1826B}" presName="text" presStyleLbl="fgAcc0" presStyleIdx="0" presStyleCnt="3">
        <dgm:presLayoutVars>
          <dgm:chPref val="3"/>
        </dgm:presLayoutVars>
      </dgm:prSet>
      <dgm:spPr/>
    </dgm:pt>
    <dgm:pt modelId="{08DFE17B-6445-4059-A116-8D51217D4D0C}" type="pres">
      <dgm:prSet presAssocID="{924D1881-1813-41F6-A960-C01DDBB1826B}" presName="hierChild2" presStyleCnt="0"/>
      <dgm:spPr/>
    </dgm:pt>
    <dgm:pt modelId="{C37BAA60-8015-425D-B379-BD2EF01F6055}" type="pres">
      <dgm:prSet presAssocID="{C9385E62-0658-4C11-8E90-34FDB1BA133C}" presName="hierRoot1" presStyleCnt="0"/>
      <dgm:spPr/>
    </dgm:pt>
    <dgm:pt modelId="{8ECE83F5-AA66-4BD3-AF6E-95C024A9D67E}" type="pres">
      <dgm:prSet presAssocID="{C9385E62-0658-4C11-8E90-34FDB1BA133C}" presName="composite" presStyleCnt="0"/>
      <dgm:spPr/>
    </dgm:pt>
    <dgm:pt modelId="{180D7F32-4F09-4E9F-A7BA-94A96D21790B}" type="pres">
      <dgm:prSet presAssocID="{C9385E62-0658-4C11-8E90-34FDB1BA133C}" presName="background" presStyleLbl="node0" presStyleIdx="1" presStyleCnt="3"/>
      <dgm:spPr/>
    </dgm:pt>
    <dgm:pt modelId="{FEB5569D-A87C-4363-AEC7-7BFD9FEE64DE}" type="pres">
      <dgm:prSet presAssocID="{C9385E62-0658-4C11-8E90-34FDB1BA133C}" presName="text" presStyleLbl="fgAcc0" presStyleIdx="1" presStyleCnt="3">
        <dgm:presLayoutVars>
          <dgm:chPref val="3"/>
        </dgm:presLayoutVars>
      </dgm:prSet>
      <dgm:spPr/>
    </dgm:pt>
    <dgm:pt modelId="{520F9556-E4ED-4A91-858F-04AF29129F56}" type="pres">
      <dgm:prSet presAssocID="{C9385E62-0658-4C11-8E90-34FDB1BA133C}" presName="hierChild2" presStyleCnt="0"/>
      <dgm:spPr/>
    </dgm:pt>
    <dgm:pt modelId="{29CBBB0A-6ED5-443A-91E2-5D17F9ACFE73}" type="pres">
      <dgm:prSet presAssocID="{F6FA7CC7-9C75-4425-ACAF-42C33ED4EC9D}" presName="hierRoot1" presStyleCnt="0"/>
      <dgm:spPr/>
    </dgm:pt>
    <dgm:pt modelId="{EB5401BB-06E6-4748-8D31-A8693A670562}" type="pres">
      <dgm:prSet presAssocID="{F6FA7CC7-9C75-4425-ACAF-42C33ED4EC9D}" presName="composite" presStyleCnt="0"/>
      <dgm:spPr/>
    </dgm:pt>
    <dgm:pt modelId="{F745CA11-51AA-41B7-9765-9B38BDF70BF2}" type="pres">
      <dgm:prSet presAssocID="{F6FA7CC7-9C75-4425-ACAF-42C33ED4EC9D}" presName="background" presStyleLbl="node0" presStyleIdx="2" presStyleCnt="3"/>
      <dgm:spPr/>
    </dgm:pt>
    <dgm:pt modelId="{FC91BDD3-BB6E-408E-8414-C850507193A2}" type="pres">
      <dgm:prSet presAssocID="{F6FA7CC7-9C75-4425-ACAF-42C33ED4EC9D}" presName="text" presStyleLbl="fgAcc0" presStyleIdx="2" presStyleCnt="3">
        <dgm:presLayoutVars>
          <dgm:chPref val="3"/>
        </dgm:presLayoutVars>
      </dgm:prSet>
      <dgm:spPr/>
    </dgm:pt>
    <dgm:pt modelId="{56C45D50-EF26-4F57-8048-8871051E953F}" type="pres">
      <dgm:prSet presAssocID="{F6FA7CC7-9C75-4425-ACAF-42C33ED4EC9D}" presName="hierChild2" presStyleCnt="0"/>
      <dgm:spPr/>
    </dgm:pt>
  </dgm:ptLst>
  <dgm:cxnLst>
    <dgm:cxn modelId="{99A46100-BED7-40DE-BBFB-9706229AF415}" type="presOf" srcId="{81A7AA3C-F8E4-4D92-A1E6-37001998E6E8}" destId="{12C040AF-4A15-4E9E-9C65-B6D00300D41F}" srcOrd="0" destOrd="0" presId="urn:microsoft.com/office/officeart/2005/8/layout/hierarchy1"/>
    <dgm:cxn modelId="{A47FD108-9186-47EE-A5CC-A49D14B83722}" srcId="{81A7AA3C-F8E4-4D92-A1E6-37001998E6E8}" destId="{C9385E62-0658-4C11-8E90-34FDB1BA133C}" srcOrd="1" destOrd="0" parTransId="{803E750B-5113-4E1E-A078-52D136109FB6}" sibTransId="{325B2C13-C4FD-47DE-A7A9-8F7A75B0D682}"/>
    <dgm:cxn modelId="{4C628F3C-D889-4569-9BB7-5B4EA540F297}" srcId="{81A7AA3C-F8E4-4D92-A1E6-37001998E6E8}" destId="{924D1881-1813-41F6-A960-C01DDBB1826B}" srcOrd="0" destOrd="0" parTransId="{66325FC9-7AF5-45B4-BEA8-7963C82AC3F7}" sibTransId="{A019D581-8ACA-4B49-9CFE-842DB1B75209}"/>
    <dgm:cxn modelId="{672F8257-6D76-436B-BB78-BCB4CEE9E88A}" srcId="{81A7AA3C-F8E4-4D92-A1E6-37001998E6E8}" destId="{F6FA7CC7-9C75-4425-ACAF-42C33ED4EC9D}" srcOrd="2" destOrd="0" parTransId="{17AB10AF-5C14-44DE-B465-68E8D53DCDA5}" sibTransId="{AA9FA9BB-EBDE-412D-AAA9-A78B00323C7E}"/>
    <dgm:cxn modelId="{D1EBF1DD-4039-45E3-AFAB-74F3BC97840E}" type="presOf" srcId="{924D1881-1813-41F6-A960-C01DDBB1826B}" destId="{1C00F03E-9E97-4413-8E4B-993902A6D55B}" srcOrd="0" destOrd="0" presId="urn:microsoft.com/office/officeart/2005/8/layout/hierarchy1"/>
    <dgm:cxn modelId="{EA3E11EB-B77D-41E7-A5B7-01D4E9ED4CB6}" type="presOf" srcId="{C9385E62-0658-4C11-8E90-34FDB1BA133C}" destId="{FEB5569D-A87C-4363-AEC7-7BFD9FEE64DE}" srcOrd="0" destOrd="0" presId="urn:microsoft.com/office/officeart/2005/8/layout/hierarchy1"/>
    <dgm:cxn modelId="{24864AF5-45AC-41ED-8037-5C039C22F7E2}" type="presOf" srcId="{F6FA7CC7-9C75-4425-ACAF-42C33ED4EC9D}" destId="{FC91BDD3-BB6E-408E-8414-C850507193A2}" srcOrd="0" destOrd="0" presId="urn:microsoft.com/office/officeart/2005/8/layout/hierarchy1"/>
    <dgm:cxn modelId="{009A6D4D-F9E4-4A26-B8C3-AD180D4AA6B5}" type="presParOf" srcId="{12C040AF-4A15-4E9E-9C65-B6D00300D41F}" destId="{21ECBA1A-694F-4BEF-8A0D-2A7C77750271}" srcOrd="0" destOrd="0" presId="urn:microsoft.com/office/officeart/2005/8/layout/hierarchy1"/>
    <dgm:cxn modelId="{8B3AE4B6-C88F-4D49-84EB-8A15AE4DE567}" type="presParOf" srcId="{21ECBA1A-694F-4BEF-8A0D-2A7C77750271}" destId="{861E5C68-79DE-4CD4-BCEC-737D898161C1}" srcOrd="0" destOrd="0" presId="urn:microsoft.com/office/officeart/2005/8/layout/hierarchy1"/>
    <dgm:cxn modelId="{63FEC67F-EC55-4E3A-85B2-CD99D421E12A}" type="presParOf" srcId="{861E5C68-79DE-4CD4-BCEC-737D898161C1}" destId="{C6A3161A-736A-4B06-A802-FC1F2E6A0C66}" srcOrd="0" destOrd="0" presId="urn:microsoft.com/office/officeart/2005/8/layout/hierarchy1"/>
    <dgm:cxn modelId="{6A86B24D-4922-4B7A-BA0E-08077F018DD7}" type="presParOf" srcId="{861E5C68-79DE-4CD4-BCEC-737D898161C1}" destId="{1C00F03E-9E97-4413-8E4B-993902A6D55B}" srcOrd="1" destOrd="0" presId="urn:microsoft.com/office/officeart/2005/8/layout/hierarchy1"/>
    <dgm:cxn modelId="{1D91C067-213A-40B9-B929-DBD9A2F413C2}" type="presParOf" srcId="{21ECBA1A-694F-4BEF-8A0D-2A7C77750271}" destId="{08DFE17B-6445-4059-A116-8D51217D4D0C}" srcOrd="1" destOrd="0" presId="urn:microsoft.com/office/officeart/2005/8/layout/hierarchy1"/>
    <dgm:cxn modelId="{5C39FE56-B064-4713-A248-65EE0F95D3A5}" type="presParOf" srcId="{12C040AF-4A15-4E9E-9C65-B6D00300D41F}" destId="{C37BAA60-8015-425D-B379-BD2EF01F6055}" srcOrd="1" destOrd="0" presId="urn:microsoft.com/office/officeart/2005/8/layout/hierarchy1"/>
    <dgm:cxn modelId="{DED4CAC0-D7DA-47B3-88C7-2B47FFA7B7B7}" type="presParOf" srcId="{C37BAA60-8015-425D-B379-BD2EF01F6055}" destId="{8ECE83F5-AA66-4BD3-AF6E-95C024A9D67E}" srcOrd="0" destOrd="0" presId="urn:microsoft.com/office/officeart/2005/8/layout/hierarchy1"/>
    <dgm:cxn modelId="{D1972DF8-6ADE-467A-9DCE-E6E06C5C0123}" type="presParOf" srcId="{8ECE83F5-AA66-4BD3-AF6E-95C024A9D67E}" destId="{180D7F32-4F09-4E9F-A7BA-94A96D21790B}" srcOrd="0" destOrd="0" presId="urn:microsoft.com/office/officeart/2005/8/layout/hierarchy1"/>
    <dgm:cxn modelId="{C67F8869-3AFA-4BEB-B6C2-BFCEBE38F52D}" type="presParOf" srcId="{8ECE83F5-AA66-4BD3-AF6E-95C024A9D67E}" destId="{FEB5569D-A87C-4363-AEC7-7BFD9FEE64DE}" srcOrd="1" destOrd="0" presId="urn:microsoft.com/office/officeart/2005/8/layout/hierarchy1"/>
    <dgm:cxn modelId="{C2368880-2420-41EC-A95D-65269D52F5F2}" type="presParOf" srcId="{C37BAA60-8015-425D-B379-BD2EF01F6055}" destId="{520F9556-E4ED-4A91-858F-04AF29129F56}" srcOrd="1" destOrd="0" presId="urn:microsoft.com/office/officeart/2005/8/layout/hierarchy1"/>
    <dgm:cxn modelId="{AC1E37EB-C224-4A40-868F-E31F329EA768}" type="presParOf" srcId="{12C040AF-4A15-4E9E-9C65-B6D00300D41F}" destId="{29CBBB0A-6ED5-443A-91E2-5D17F9ACFE73}" srcOrd="2" destOrd="0" presId="urn:microsoft.com/office/officeart/2005/8/layout/hierarchy1"/>
    <dgm:cxn modelId="{CDB37799-0387-4B54-8156-B2901DA72D03}" type="presParOf" srcId="{29CBBB0A-6ED5-443A-91E2-5D17F9ACFE73}" destId="{EB5401BB-06E6-4748-8D31-A8693A670562}" srcOrd="0" destOrd="0" presId="urn:microsoft.com/office/officeart/2005/8/layout/hierarchy1"/>
    <dgm:cxn modelId="{29E1B7BA-46E4-436B-8E57-9B21626C0BE1}" type="presParOf" srcId="{EB5401BB-06E6-4748-8D31-A8693A670562}" destId="{F745CA11-51AA-41B7-9765-9B38BDF70BF2}" srcOrd="0" destOrd="0" presId="urn:microsoft.com/office/officeart/2005/8/layout/hierarchy1"/>
    <dgm:cxn modelId="{2AEE5168-F9B4-450F-8A5B-5F11A325B6D8}" type="presParOf" srcId="{EB5401BB-06E6-4748-8D31-A8693A670562}" destId="{FC91BDD3-BB6E-408E-8414-C850507193A2}" srcOrd="1" destOrd="0" presId="urn:microsoft.com/office/officeart/2005/8/layout/hierarchy1"/>
    <dgm:cxn modelId="{A7F81DEE-287F-4797-93F8-656D36C27CD1}" type="presParOf" srcId="{29CBBB0A-6ED5-443A-91E2-5D17F9ACFE73}" destId="{56C45D50-EF26-4F57-8048-8871051E953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A3161A-736A-4B06-A802-FC1F2E6A0C66}">
      <dsp:nvSpPr>
        <dsp:cNvPr id="0" name=""/>
        <dsp:cNvSpPr/>
      </dsp:nvSpPr>
      <dsp:spPr>
        <a:xfrm>
          <a:off x="0" y="160869"/>
          <a:ext cx="1454968" cy="9239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C00F03E-9E97-4413-8E4B-993902A6D55B}">
      <dsp:nvSpPr>
        <dsp:cNvPr id="0" name=""/>
        <dsp:cNvSpPr/>
      </dsp:nvSpPr>
      <dsp:spPr>
        <a:xfrm>
          <a:off x="161663" y="314449"/>
          <a:ext cx="1454968" cy="9239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Character progression with unlockable abilities</a:t>
          </a:r>
        </a:p>
      </dsp:txBody>
      <dsp:txXfrm>
        <a:off x="188723" y="341509"/>
        <a:ext cx="1400848" cy="869784"/>
      </dsp:txXfrm>
    </dsp:sp>
    <dsp:sp modelId="{180D7F32-4F09-4E9F-A7BA-94A96D21790B}">
      <dsp:nvSpPr>
        <dsp:cNvPr id="0" name=""/>
        <dsp:cNvSpPr/>
      </dsp:nvSpPr>
      <dsp:spPr>
        <a:xfrm>
          <a:off x="1778294" y="160869"/>
          <a:ext cx="1454968" cy="9239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EB5569D-A87C-4363-AEC7-7BFD9FEE64DE}">
      <dsp:nvSpPr>
        <dsp:cNvPr id="0" name=""/>
        <dsp:cNvSpPr/>
      </dsp:nvSpPr>
      <dsp:spPr>
        <a:xfrm>
          <a:off x="1939957" y="314449"/>
          <a:ext cx="1454968" cy="9239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Equipment upgrades and stat-based improvements</a:t>
          </a:r>
        </a:p>
      </dsp:txBody>
      <dsp:txXfrm>
        <a:off x="1967017" y="341509"/>
        <a:ext cx="1400848" cy="869784"/>
      </dsp:txXfrm>
    </dsp:sp>
    <dsp:sp modelId="{F745CA11-51AA-41B7-9765-9B38BDF70BF2}">
      <dsp:nvSpPr>
        <dsp:cNvPr id="0" name=""/>
        <dsp:cNvSpPr/>
      </dsp:nvSpPr>
      <dsp:spPr>
        <a:xfrm>
          <a:off x="3556588" y="160869"/>
          <a:ext cx="1454968" cy="9239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C91BDD3-BB6E-408E-8414-C850507193A2}">
      <dsp:nvSpPr>
        <dsp:cNvPr id="0" name=""/>
        <dsp:cNvSpPr/>
      </dsp:nvSpPr>
      <dsp:spPr>
        <a:xfrm>
          <a:off x="3718251" y="314449"/>
          <a:ext cx="1454968" cy="9239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Narrative choices influencing your journey</a:t>
          </a:r>
        </a:p>
      </dsp:txBody>
      <dsp:txXfrm>
        <a:off x="3745311" y="341509"/>
        <a:ext cx="1400848" cy="8697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Clair Obscur: Expedition 33 | Site Officiel (FR)">
            <a:extLst>
              <a:ext uri="{FF2B5EF4-FFF2-40B4-BE49-F238E27FC236}">
                <a16:creationId xmlns:a16="http://schemas.microsoft.com/office/drawing/2014/main" id="{409BD41E-A210-D387-1CE5-273CD3A9939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16006" r="9013"/>
          <a:stretch>
            <a:fillRect/>
          </a:stretch>
        </p:blipFill>
        <p:spPr>
          <a:xfrm>
            <a:off x="20" y="10"/>
            <a:ext cx="9141692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3063240"/>
          </a:xfrm>
        </p:spPr>
        <p:txBody>
          <a:bodyPr>
            <a:normAutofit/>
          </a:bodyPr>
          <a:lstStyle/>
          <a:p>
            <a:r>
              <a:rPr lang="en-US" sz="5700">
                <a:solidFill>
                  <a:schemeClr val="bg1"/>
                </a:solidFill>
              </a:rPr>
              <a:t>Clair Obscur: Expedition 33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5286" y="4599432"/>
            <a:ext cx="6858000" cy="153619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 Unique Blend of Art, Action, and RPG</a:t>
            </a:r>
          </a:p>
        </p:txBody>
      </p:sp>
      <p:sp>
        <p:nvSpPr>
          <p:cNvPr id="32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0654" y="4368623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36538 w 3182692"/>
              <a:gd name="csY1" fmla="*/ 0 h 18288"/>
              <a:gd name="csX2" fmla="*/ 1273077 w 3182692"/>
              <a:gd name="csY2" fmla="*/ 0 h 18288"/>
              <a:gd name="csX3" fmla="*/ 1909615 w 3182692"/>
              <a:gd name="csY3" fmla="*/ 0 h 18288"/>
              <a:gd name="csX4" fmla="*/ 2482500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609807 w 3182692"/>
              <a:gd name="csY7" fmla="*/ 18288 h 18288"/>
              <a:gd name="csX8" fmla="*/ 2068750 w 3182692"/>
              <a:gd name="csY8" fmla="*/ 18288 h 18288"/>
              <a:gd name="csX9" fmla="*/ 1432211 w 3182692"/>
              <a:gd name="csY9" fmla="*/ 18288 h 18288"/>
              <a:gd name="csX10" fmla="*/ 859327 w 3182692"/>
              <a:gd name="csY10" fmla="*/ 18288 h 18288"/>
              <a:gd name="csX11" fmla="*/ 0 w 3182692"/>
              <a:gd name="csY11" fmla="*/ 18288 h 18288"/>
              <a:gd name="csX12" fmla="*/ 0 w 3182692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US" sz="3100"/>
              <a:t>What Is Expedition 33?</a:t>
            </a:r>
          </a:p>
        </p:txBody>
      </p:sp>
      <p:pic>
        <p:nvPicPr>
          <p:cNvPr id="4" name="Picture 3" descr="Aux origines de « Clair Obscur : Expedition 33 », le jeu vidéo phénomène du  studio Sandfall Interactive | CNC">
            <a:extLst>
              <a:ext uri="{FF2B5EF4-FFF2-40B4-BE49-F238E27FC236}">
                <a16:creationId xmlns:a16="http://schemas.microsoft.com/office/drawing/2014/main" id="{CF2659EC-7687-CD56-99D9-1EFE2FEB39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858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600" dirty="0"/>
              <a:t>• A narrative-driven action-RPG with a strong artistic identity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• Inspired by chiaroscuro aesthetics (contrast of light and dark)</a:t>
            </a:r>
            <a:endParaRPr lang="en-US" sz="16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• Aimed at players who enjoy atmospheric storytelling</a:t>
            </a:r>
            <a:endParaRPr lang="en-US" sz="1600" dirty="0"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4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50E4C519-FBE9-4ABE-A8F9-C2CBE3269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underwater scene with a ship and plants&#10;&#10;AI-generated content may be incorrect.">
            <a:extLst>
              <a:ext uri="{FF2B5EF4-FFF2-40B4-BE49-F238E27FC236}">
                <a16:creationId xmlns:a16="http://schemas.microsoft.com/office/drawing/2014/main" id="{D619867F-D9B2-A096-9C15-AC0165AB90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327" r="18639"/>
          <a:stretch>
            <a:fillRect/>
          </a:stretch>
        </p:blipFill>
        <p:spPr>
          <a:xfrm>
            <a:off x="2434227" y="-1"/>
            <a:ext cx="6709773" cy="6858000"/>
          </a:xfrm>
          <a:custGeom>
            <a:avLst/>
            <a:gdLst/>
            <a:ahLst/>
            <a:cxnLst/>
            <a:rect l="l" t="t" r="r" b="b"/>
            <a:pathLst>
              <a:path w="8946363" h="6858000">
                <a:moveTo>
                  <a:pt x="0" y="0"/>
                </a:moveTo>
                <a:lnTo>
                  <a:pt x="8946363" y="0"/>
                </a:lnTo>
                <a:lnTo>
                  <a:pt x="8946363" y="6858000"/>
                </a:lnTo>
                <a:lnTo>
                  <a:pt x="1" y="6858000"/>
                </a:lnTo>
                <a:lnTo>
                  <a:pt x="60040" y="6788731"/>
                </a:lnTo>
                <a:cubicBezTo>
                  <a:pt x="770566" y="5928901"/>
                  <a:pt x="1210035" y="4741057"/>
                  <a:pt x="1210035" y="3429001"/>
                </a:cubicBezTo>
                <a:cubicBezTo>
                  <a:pt x="1210035" y="2116945"/>
                  <a:pt x="770566" y="929101"/>
                  <a:pt x="60040" y="69272"/>
                </a:cubicBezTo>
                <a:close/>
              </a:path>
            </a:pathLst>
          </a:custGeom>
        </p:spPr>
      </p:pic>
      <p:sp useBgFill="1">
        <p:nvSpPr>
          <p:cNvPr id="32" name="Freeform: Shape 31">
            <a:extLst>
              <a:ext uri="{FF2B5EF4-FFF2-40B4-BE49-F238E27FC236}">
                <a16:creationId xmlns:a16="http://schemas.microsoft.com/office/drawing/2014/main" id="{80EC29FB-299E-49F3-8C7B-01199632A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341754" cy="6858000"/>
          </a:xfrm>
          <a:custGeom>
            <a:avLst/>
            <a:gdLst>
              <a:gd name="connsiteX0" fmla="*/ 0 w 4455672"/>
              <a:gd name="connsiteY0" fmla="*/ 0 h 6858000"/>
              <a:gd name="connsiteX1" fmla="*/ 3245636 w 4455672"/>
              <a:gd name="connsiteY1" fmla="*/ 0 h 6858000"/>
              <a:gd name="connsiteX2" fmla="*/ 3305677 w 4455672"/>
              <a:gd name="connsiteY2" fmla="*/ 69272 h 6858000"/>
              <a:gd name="connsiteX3" fmla="*/ 4455672 w 4455672"/>
              <a:gd name="connsiteY3" fmla="*/ 3429001 h 6858000"/>
              <a:gd name="connsiteX4" fmla="*/ 3305677 w 4455672"/>
              <a:gd name="connsiteY4" fmla="*/ 6788731 h 6858000"/>
              <a:gd name="connsiteX5" fmla="*/ 3245638 w 4455672"/>
              <a:gd name="connsiteY5" fmla="*/ 6858000 h 6858000"/>
              <a:gd name="connsiteX6" fmla="*/ 0 w 445567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2" h="6858000">
                <a:moveTo>
                  <a:pt x="0" y="0"/>
                </a:moveTo>
                <a:lnTo>
                  <a:pt x="3245636" y="0"/>
                </a:lnTo>
                <a:lnTo>
                  <a:pt x="3305677" y="69272"/>
                </a:lnTo>
                <a:cubicBezTo>
                  <a:pt x="4016203" y="929101"/>
                  <a:pt x="4455672" y="2116945"/>
                  <a:pt x="4455672" y="3429001"/>
                </a:cubicBezTo>
                <a:cubicBezTo>
                  <a:pt x="4455672" y="4741057"/>
                  <a:pt x="4016203" y="5928901"/>
                  <a:pt x="3305677" y="6788731"/>
                </a:cubicBezTo>
                <a:lnTo>
                  <a:pt x="3245638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3" name="Freeform: Shape 32">
            <a:extLst>
              <a:ext uri="{FF2B5EF4-FFF2-40B4-BE49-F238E27FC236}">
                <a16:creationId xmlns:a16="http://schemas.microsoft.com/office/drawing/2014/main" id="{C29A2522-B27A-45C5-897B-79A1407D1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34896" cy="6858000"/>
          </a:xfrm>
          <a:custGeom>
            <a:avLst/>
            <a:gdLst>
              <a:gd name="connsiteX0" fmla="*/ 0 w 4446528"/>
              <a:gd name="connsiteY0" fmla="*/ 0 h 6858000"/>
              <a:gd name="connsiteX1" fmla="*/ 3236492 w 4446528"/>
              <a:gd name="connsiteY1" fmla="*/ 0 h 6858000"/>
              <a:gd name="connsiteX2" fmla="*/ 3296533 w 4446528"/>
              <a:gd name="connsiteY2" fmla="*/ 69272 h 6858000"/>
              <a:gd name="connsiteX3" fmla="*/ 4446528 w 4446528"/>
              <a:gd name="connsiteY3" fmla="*/ 3429001 h 6858000"/>
              <a:gd name="connsiteX4" fmla="*/ 3296533 w 4446528"/>
              <a:gd name="connsiteY4" fmla="*/ 6788731 h 6858000"/>
              <a:gd name="connsiteX5" fmla="*/ 3236494 w 4446528"/>
              <a:gd name="connsiteY5" fmla="*/ 6858000 h 6858000"/>
              <a:gd name="connsiteX6" fmla="*/ 0 w 444652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8" h="6858000">
                <a:moveTo>
                  <a:pt x="0" y="0"/>
                </a:moveTo>
                <a:lnTo>
                  <a:pt x="3236492" y="0"/>
                </a:lnTo>
                <a:lnTo>
                  <a:pt x="3296533" y="69272"/>
                </a:lnTo>
                <a:cubicBezTo>
                  <a:pt x="4007059" y="929101"/>
                  <a:pt x="4446528" y="2116945"/>
                  <a:pt x="4446528" y="3429001"/>
                </a:cubicBezTo>
                <a:cubicBezTo>
                  <a:pt x="4446528" y="4741057"/>
                  <a:pt x="4007059" y="5928901"/>
                  <a:pt x="3296533" y="6788731"/>
                </a:cubicBezTo>
                <a:lnTo>
                  <a:pt x="3236494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8320" y="1161288"/>
            <a:ext cx="2578608" cy="1239012"/>
          </a:xfrm>
        </p:spPr>
        <p:txBody>
          <a:bodyPr anchor="ctr">
            <a:normAutofit/>
          </a:bodyPr>
          <a:lstStyle/>
          <a:p>
            <a:r>
              <a:rPr lang="en-US" sz="2400" dirty="0"/>
              <a:t>The World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0961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635" y="2443480"/>
            <a:ext cx="25374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8320" y="2718054"/>
            <a:ext cx="2579180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500" dirty="0"/>
              <a:t>• A decaying realm shaped by cycles of light and shadow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/>
              <a:t>• Environmental storytelling reveals history through ruins, symbols, and architecture</a:t>
            </a:r>
            <a:endParaRPr lang="en-US" sz="1500">
              <a:ea typeface="Calibri"/>
              <a:cs typeface="Calibri"/>
            </a:endParaRP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/>
              <a:t>• Every zone reflects emotional themes</a:t>
            </a:r>
            <a:endParaRPr lang="en-US" sz="1500"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US" sz="3100"/>
              <a:t>Core Gameplay</a:t>
            </a:r>
          </a:p>
        </p:txBody>
      </p:sp>
      <p:pic>
        <p:nvPicPr>
          <p:cNvPr id="4" name="Picture 3" descr="Vous perdez sur Clair Obscur: Expédition 33 ? La nouvelle mise à jour vous  aidera à prendre votre revanche - Numerama">
            <a:extLst>
              <a:ext uri="{FF2B5EF4-FFF2-40B4-BE49-F238E27FC236}">
                <a16:creationId xmlns:a16="http://schemas.microsoft.com/office/drawing/2014/main" id="{215024F1-74D9-584C-CB34-32DA2D58F2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345" b="14514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600" dirty="0"/>
              <a:t>• Action combat mixing light/dark mechanics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• Tactical dodging, timing, and skill-based encounters</a:t>
            </a:r>
            <a:endParaRPr lang="en-US" sz="1600">
              <a:ea typeface="Calibri"/>
              <a:cs typeface="Calibri"/>
            </a:endParaRP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• Exploration with meaningful environmental interactions</a:t>
            </a:r>
            <a:endParaRPr lang="en-US" sz="1600" dirty="0">
              <a:ea typeface="Calibri"/>
              <a:cs typeface="Calibri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4777739"/>
            <a:ext cx="2564242" cy="1412119"/>
          </a:xfrm>
        </p:spPr>
        <p:txBody>
          <a:bodyPr>
            <a:normAutofit/>
          </a:bodyPr>
          <a:lstStyle/>
          <a:p>
            <a:r>
              <a:rPr lang="en-US" sz="4200"/>
              <a:t>RPG Elements</a:t>
            </a:r>
          </a:p>
        </p:txBody>
      </p:sp>
      <p:pic>
        <p:nvPicPr>
          <p:cNvPr id="36" name="Picture 35" descr="Clair Obscur: Expedition 33 est adulé par la critique - IG News">
            <a:extLst>
              <a:ext uri="{FF2B5EF4-FFF2-40B4-BE49-F238E27FC236}">
                <a16:creationId xmlns:a16="http://schemas.microsoft.com/office/drawing/2014/main" id="{88B6E2C5-29A6-75B7-119A-E90CE2085B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375"/>
          <a:stretch>
            <a:fillRect/>
          </a:stretch>
        </p:blipFill>
        <p:spPr>
          <a:xfrm>
            <a:off x="20" y="10"/>
            <a:ext cx="9143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54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74529" y="5470492"/>
            <a:ext cx="1371600" cy="13716"/>
          </a:xfrm>
          <a:custGeom>
            <a:avLst/>
            <a:gdLst>
              <a:gd name="csX0" fmla="*/ 0 w 1371600"/>
              <a:gd name="csY0" fmla="*/ 0 h 13716"/>
              <a:gd name="csX1" fmla="*/ 685800 w 1371600"/>
              <a:gd name="csY1" fmla="*/ 0 h 13716"/>
              <a:gd name="csX2" fmla="*/ 1371600 w 1371600"/>
              <a:gd name="csY2" fmla="*/ 0 h 13716"/>
              <a:gd name="csX3" fmla="*/ 1371600 w 1371600"/>
              <a:gd name="csY3" fmla="*/ 13716 h 13716"/>
              <a:gd name="csX4" fmla="*/ 713232 w 1371600"/>
              <a:gd name="csY4" fmla="*/ 13716 h 13716"/>
              <a:gd name="csX5" fmla="*/ 0 w 1371600"/>
              <a:gd name="csY5" fmla="*/ 13716 h 13716"/>
              <a:gd name="csX6" fmla="*/ 0 w 1371600"/>
              <a:gd name="csY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71600" h="13716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127" y="2892"/>
                  <a:pt x="1371229" y="8681"/>
                  <a:pt x="1371600" y="13716"/>
                </a:cubicBezTo>
                <a:cubicBezTo>
                  <a:pt x="1107995" y="21892"/>
                  <a:pt x="1033361" y="28370"/>
                  <a:pt x="713232" y="13716"/>
                </a:cubicBezTo>
                <a:cubicBezTo>
                  <a:pt x="393103" y="-938"/>
                  <a:pt x="289343" y="38649"/>
                  <a:pt x="0" y="13716"/>
                </a:cubicBezTo>
                <a:cubicBezTo>
                  <a:pt x="227" y="7219"/>
                  <a:pt x="197" y="5990"/>
                  <a:pt x="0" y="0"/>
                </a:cubicBezTo>
                <a:close/>
              </a:path>
              <a:path w="1371600" h="13716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228" y="6235"/>
                  <a:pt x="1371259" y="10206"/>
                  <a:pt x="1371600" y="13716"/>
                </a:cubicBezTo>
                <a:cubicBezTo>
                  <a:pt x="1176823" y="-5981"/>
                  <a:pt x="900830" y="5417"/>
                  <a:pt x="713232" y="13716"/>
                </a:cubicBezTo>
                <a:cubicBezTo>
                  <a:pt x="525634" y="22015"/>
                  <a:pt x="282837" y="1152"/>
                  <a:pt x="0" y="13716"/>
                </a:cubicBezTo>
                <a:cubicBezTo>
                  <a:pt x="596" y="8712"/>
                  <a:pt x="320" y="342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2" name="Content Placeholder 2">
            <a:extLst>
              <a:ext uri="{FF2B5EF4-FFF2-40B4-BE49-F238E27FC236}">
                <a16:creationId xmlns:a16="http://schemas.microsoft.com/office/drawing/2014/main" id="{1AB7A40E-60BF-BE03-2856-9C826F1CAB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3779162"/>
              </p:ext>
            </p:extLst>
          </p:nvPr>
        </p:nvGraphicFramePr>
        <p:xfrm>
          <a:off x="3490720" y="4777739"/>
          <a:ext cx="5173220" cy="13992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0A1ED06-4733-4020-9C60-81D4D8014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0CA3509-3AF9-45FE-93ED-57BB5D5E8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0541" y="181576"/>
            <a:ext cx="8867727" cy="6501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oup of swords in a foggy landscape&#10;&#10;AI-generated content may be incorrect.">
            <a:extLst>
              <a:ext uri="{FF2B5EF4-FFF2-40B4-BE49-F238E27FC236}">
                <a16:creationId xmlns:a16="http://schemas.microsoft.com/office/drawing/2014/main" id="{BDFCECB4-967A-B4D1-14A5-34A9FB3CCF9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15089" r="8168"/>
          <a:stretch>
            <a:fillRect/>
          </a:stretch>
        </p:blipFill>
        <p:spPr>
          <a:xfrm>
            <a:off x="135731" y="182880"/>
            <a:ext cx="8867728" cy="649978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25195"/>
            <a:ext cx="7623913" cy="2806506"/>
          </a:xfrm>
        </p:spPr>
        <p:txBody>
          <a:bodyPr anchor="b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Atmosphere &amp; Art 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3526300"/>
            <a:ext cx="7623913" cy="25884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• Unique painterly style that blends realism and abstraction</a:t>
            </a:r>
          </a:p>
          <a:p>
            <a:pPr marL="0" indent="0">
              <a:buNone/>
            </a:pPr>
            <a:endParaRPr lang="en-US" sz="17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• Emotional tone supported by music, lighting, and world design</a:t>
            </a:r>
            <a:endParaRPr lang="en-US" sz="1700">
              <a:solidFill>
                <a:srgbClr val="FFFFFF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US" sz="17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</a:rPr>
              <a:t>• One of the strongest selling points of the game</a:t>
            </a:r>
            <a:endParaRPr lang="en-US" sz="1700" dirty="0">
              <a:solidFill>
                <a:srgbClr val="FFFFFF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6148" y="568517"/>
            <a:ext cx="3936166" cy="106720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>
                <a:solidFill>
                  <a:schemeClr val="bg1"/>
                </a:solidFill>
              </a:rPr>
              <a:t>Why You Should Play It</a:t>
            </a:r>
          </a:p>
        </p:txBody>
      </p:sp>
      <p:pic>
        <p:nvPicPr>
          <p:cNvPr id="4" name="Picture 3" descr="Clair Obscur: Expedition 33 - Pourquoi la France n'aura pas droit à son  édition collector ?">
            <a:extLst>
              <a:ext uri="{FF2B5EF4-FFF2-40B4-BE49-F238E27FC236}">
                <a16:creationId xmlns:a16="http://schemas.microsoft.com/office/drawing/2014/main" id="{C5D89AE9-DEF4-E097-5843-380903DB02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281" r="24531"/>
          <a:stretch>
            <a:fillRect/>
          </a:stretch>
        </p:blipFill>
        <p:spPr>
          <a:xfrm>
            <a:off x="554969" y="1095407"/>
            <a:ext cx="3566210" cy="4754947"/>
          </a:xfrm>
          <a:custGeom>
            <a:avLst/>
            <a:gdLst/>
            <a:ahLst/>
            <a:cxnLst/>
            <a:rect l="l" t="t" r="r" b="b"/>
            <a:pathLst>
              <a:path w="2388070" h="2388070">
                <a:moveTo>
                  <a:pt x="1194035" y="0"/>
                </a:moveTo>
                <a:cubicBezTo>
                  <a:pt x="1853482" y="0"/>
                  <a:pt x="2388070" y="534588"/>
                  <a:pt x="2388070" y="1194035"/>
                </a:cubicBezTo>
                <a:cubicBezTo>
                  <a:pt x="2388070" y="1853482"/>
                  <a:pt x="1853482" y="2388070"/>
                  <a:pt x="1194035" y="2388070"/>
                </a:cubicBezTo>
                <a:cubicBezTo>
                  <a:pt x="534588" y="2388070"/>
                  <a:pt x="0" y="1853482"/>
                  <a:pt x="0" y="1194035"/>
                </a:cubicBezTo>
                <a:cubicBezTo>
                  <a:pt x="0" y="534588"/>
                  <a:pt x="534588" y="0"/>
                  <a:pt x="1194035" y="0"/>
                </a:cubicBezTo>
                <a:close/>
              </a:path>
            </a:pathLst>
          </a:custGeom>
          <a:ln w="28575">
            <a:noFill/>
          </a:ln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B894EFA8-F425-4D19-A94B-445388B31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396390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6151" y="1820369"/>
            <a:ext cx="3912879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700">
                <a:solidFill>
                  <a:schemeClr val="bg1"/>
                </a:solidFill>
              </a:rPr>
              <a:t>• A fresh artistic vision rarely seen in modern RPGs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700">
                <a:solidFill>
                  <a:schemeClr val="bg1"/>
                </a:solidFill>
              </a:rPr>
              <a:t>• Deep immersion through visuals, sound, and narrative</a:t>
            </a:r>
            <a:endParaRPr lang="en-US" sz="2700">
              <a:solidFill>
                <a:schemeClr val="bg1"/>
              </a:solidFill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2700">
                <a:solidFill>
                  <a:schemeClr val="bg1"/>
                </a:solidFill>
              </a:rPr>
              <a:t>• Innovative gameplay loop mixing action, puzzles, and RPG systems</a:t>
            </a:r>
            <a:endParaRPr lang="en-US" sz="2700">
              <a:solidFill>
                <a:schemeClr val="bg1"/>
              </a:solidFill>
              <a:ea typeface="Calibri"/>
              <a:cs typeface="Calibri"/>
            </a:endParaRPr>
          </a:p>
        </p:txBody>
      </p:sp>
      <p:grpSp>
        <p:nvGrpSpPr>
          <p:cNvPr id="24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21453" y="5987064"/>
            <a:ext cx="790849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4777739"/>
            <a:ext cx="2564242" cy="1412119"/>
          </a:xfrm>
        </p:spPr>
        <p:txBody>
          <a:bodyPr>
            <a:normAutofit/>
          </a:bodyPr>
          <a:lstStyle/>
          <a:p>
            <a:r>
              <a:rPr lang="en-US" sz="4200"/>
              <a:t>Conclusion</a:t>
            </a:r>
          </a:p>
        </p:txBody>
      </p:sp>
      <p:pic>
        <p:nvPicPr>
          <p:cNvPr id="4" name="Picture 3" descr="Maxroll's Clair Obscur: Expedition 33 Branch with Guides, Codex, and Planner">
            <a:extLst>
              <a:ext uri="{FF2B5EF4-FFF2-40B4-BE49-F238E27FC236}">
                <a16:creationId xmlns:a16="http://schemas.microsoft.com/office/drawing/2014/main" id="{8179FA02-E91B-06C3-770E-27D3C18452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375"/>
          <a:stretch>
            <a:fillRect/>
          </a:stretch>
        </p:blipFill>
        <p:spPr>
          <a:xfrm>
            <a:off x="20" y="10"/>
            <a:ext cx="9143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24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74529" y="5470492"/>
            <a:ext cx="1371600" cy="13716"/>
          </a:xfrm>
          <a:custGeom>
            <a:avLst/>
            <a:gdLst>
              <a:gd name="csX0" fmla="*/ 0 w 1371600"/>
              <a:gd name="csY0" fmla="*/ 0 h 13716"/>
              <a:gd name="csX1" fmla="*/ 685800 w 1371600"/>
              <a:gd name="csY1" fmla="*/ 0 h 13716"/>
              <a:gd name="csX2" fmla="*/ 1371600 w 1371600"/>
              <a:gd name="csY2" fmla="*/ 0 h 13716"/>
              <a:gd name="csX3" fmla="*/ 1371600 w 1371600"/>
              <a:gd name="csY3" fmla="*/ 13716 h 13716"/>
              <a:gd name="csX4" fmla="*/ 713232 w 1371600"/>
              <a:gd name="csY4" fmla="*/ 13716 h 13716"/>
              <a:gd name="csX5" fmla="*/ 0 w 1371600"/>
              <a:gd name="csY5" fmla="*/ 13716 h 13716"/>
              <a:gd name="csX6" fmla="*/ 0 w 1371600"/>
              <a:gd name="csY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71600" h="13716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127" y="2892"/>
                  <a:pt x="1371229" y="8681"/>
                  <a:pt x="1371600" y="13716"/>
                </a:cubicBezTo>
                <a:cubicBezTo>
                  <a:pt x="1107995" y="21892"/>
                  <a:pt x="1033361" y="28370"/>
                  <a:pt x="713232" y="13716"/>
                </a:cubicBezTo>
                <a:cubicBezTo>
                  <a:pt x="393103" y="-938"/>
                  <a:pt x="289343" y="38649"/>
                  <a:pt x="0" y="13716"/>
                </a:cubicBezTo>
                <a:cubicBezTo>
                  <a:pt x="227" y="7219"/>
                  <a:pt x="197" y="5990"/>
                  <a:pt x="0" y="0"/>
                </a:cubicBezTo>
                <a:close/>
              </a:path>
              <a:path w="1371600" h="13716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228" y="6235"/>
                  <a:pt x="1371259" y="10206"/>
                  <a:pt x="1371600" y="13716"/>
                </a:cubicBezTo>
                <a:cubicBezTo>
                  <a:pt x="1176823" y="-5981"/>
                  <a:pt x="900830" y="5417"/>
                  <a:pt x="713232" y="13716"/>
                </a:cubicBezTo>
                <a:cubicBezTo>
                  <a:pt x="525634" y="22015"/>
                  <a:pt x="282837" y="1152"/>
                  <a:pt x="0" y="13716"/>
                </a:cubicBezTo>
                <a:cubicBezTo>
                  <a:pt x="596" y="8712"/>
                  <a:pt x="320" y="342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0" y="4777739"/>
            <a:ext cx="5173220" cy="139922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/>
              <a:t>Clair Obscur: Expedition 33 is a standout action-RPG offering a rich world,</a:t>
            </a:r>
          </a:p>
          <a:p>
            <a:pPr>
              <a:lnSpc>
                <a:spcPct val="90000"/>
              </a:lnSpc>
            </a:pPr>
            <a:r>
              <a:rPr lang="en-US" sz="1600"/>
              <a:t>deep atmosphere, and unique gameplay mechanics. A perfect choice for players</a:t>
            </a:r>
          </a:p>
          <a:p>
            <a:pPr>
              <a:lnSpc>
                <a:spcPct val="90000"/>
              </a:lnSpc>
            </a:pPr>
            <a:r>
              <a:rPr lang="en-US" sz="1600"/>
              <a:t>seeking originality and emotional storytelling.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Clair Obscur: Expedition 33</vt:lpstr>
      <vt:lpstr>What Is Expedition 33?</vt:lpstr>
      <vt:lpstr>The World</vt:lpstr>
      <vt:lpstr>Core Gameplay</vt:lpstr>
      <vt:lpstr>RPG Elements</vt:lpstr>
      <vt:lpstr>Atmosphere &amp; Art Direction</vt:lpstr>
      <vt:lpstr>Why You Should Play It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125</cp:revision>
  <dcterms:created xsi:type="dcterms:W3CDTF">2013-01-27T09:14:16Z</dcterms:created>
  <dcterms:modified xsi:type="dcterms:W3CDTF">2025-12-03T09:48:27Z</dcterms:modified>
  <cp:category/>
</cp:coreProperties>
</file>